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59" r:id="rId5"/>
    <p:sldId id="301" r:id="rId6"/>
    <p:sldId id="261" r:id="rId7"/>
    <p:sldId id="262" r:id="rId8"/>
    <p:sldId id="302" r:id="rId9"/>
    <p:sldId id="296" r:id="rId10"/>
    <p:sldId id="297" r:id="rId11"/>
    <p:sldId id="298" r:id="rId12"/>
    <p:sldId id="299" r:id="rId13"/>
    <p:sldId id="300" r:id="rId14"/>
    <p:sldId id="263" r:id="rId15"/>
    <p:sldId id="287" r:id="rId16"/>
    <p:sldId id="295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851D1-A5E8-47F4-F0E5-50E30596A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5FA48-C562-06DB-9876-5E353A993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63DD5-51BE-C5EC-DA47-C46F2C46D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C6EC-5EC8-45D8-9372-611B81B917B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8CEC2-4FAD-6537-CC2A-9CF1EA15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7FABA-F918-0A1F-C23D-9EFC0A667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8DA5-CD78-45CE-9039-8B9A9C149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56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FAE7-0182-DB0D-C81C-7F1F537B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AED81-94CF-D31E-61B1-767F4D3E3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D7A23-D7E7-D382-735E-0D15FE204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C6EC-5EC8-45D8-9372-611B81B917B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193B9-79C4-03C9-5FE5-913F89DF7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A9ADC-1D2F-B379-076C-CC2230AF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8DA5-CD78-45CE-9039-8B9A9C149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827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F647A-7721-51AB-45D9-5DD9D68A6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0397F-22D4-BC01-B909-51762FCD5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7236D-85C3-C2BC-2386-EC24F6C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C6EC-5EC8-45D8-9372-611B81B917B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7CEA3-B307-5B21-7F54-904463984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EE383-C887-A21A-ED85-E084D94B5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8DA5-CD78-45CE-9039-8B9A9C149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77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54E62-3E07-C1B5-D1BF-F11E4C9E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D10E-B84C-ECC4-9570-246D9148C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973B8-4E7D-38DC-B2E4-569B1F5C7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DB3CE-5E73-4F76-5CD9-1E7FFB9A9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C6EC-5EC8-45D8-9372-611B81B917B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31D1D-7460-2FB2-E6FF-3E5CE467E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19495-9721-7F31-A4FD-19151139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8DA5-CD78-45CE-9039-8B9A9C149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389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9A40F-BBEC-8CE2-5D80-9E0489ADC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45967-2E30-36FF-CADF-B337C7912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AC8DB-84A5-C79A-11B1-AED41AAD8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CB191-8E7C-F98B-9AA0-ACEDA9B4B3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14C1ED-0F4A-D8F1-10B9-12DAECD42E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6977B2-5347-A9E3-6186-454081D97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C6EC-5EC8-45D8-9372-611B81B917B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60DF19-24D8-BA7A-B9A8-677E0EA68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550535-6FDE-3486-FB33-CAEF74DDC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8DA5-CD78-45CE-9039-8B9A9C149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58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A3FF-B9B3-FA09-A378-1564BA39B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5BDD12-E46A-A06A-86FD-BC739D31E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C6EC-5EC8-45D8-9372-611B81B917B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964F62-2DB0-6CBB-557D-8F9BC836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F3F11-82CE-5C4E-4574-5E9111527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8DA5-CD78-45CE-9039-8B9A9C149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5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353CCF-5D2E-18FF-5AD9-65BBA49A4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C6EC-5EC8-45D8-9372-611B81B917B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F2444-54F9-804F-2D01-67A23B67A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EFDD3-3E18-B0C2-2449-C47805E6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8DA5-CD78-45CE-9039-8B9A9C149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35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C929A-0350-B507-A297-99238D4D3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C83B9-D9B3-05BA-AD60-F37C90378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6D590-182D-9457-58E3-3FF9BE7BF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3D6A9-19FA-9A95-FCC9-F7D63967B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C6EC-5EC8-45D8-9372-611B81B917B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3B189-7A88-5886-1F2C-5D315D633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CCB79-1A03-8FC9-9D40-F0941677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8DA5-CD78-45CE-9039-8B9A9C149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955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FCDBE-8836-0912-5615-789BF7DD5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055EA2-8851-882F-7BC8-FF5312BF9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883CC9-6B4B-A794-2AE4-6A4663A3E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2F5FE-FBAD-EA2E-8A67-19D130F0F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C6EC-5EC8-45D8-9372-611B81B917B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19899-0D6B-E497-8244-A2B072822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D514F-4B8D-DF94-BD19-7DFA4A45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8DA5-CD78-45CE-9039-8B9A9C149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930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0F18-FB86-C842-A03D-D8C26C113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C27C1-B772-589B-F904-705996791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DEAF-A1C5-076D-F6C0-838DB954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C6EC-5EC8-45D8-9372-611B81B917B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FD3B6-30C4-D7CF-51EC-179D63ABF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A8B1C-5F89-0F46-CC20-C4CF1A98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8DA5-CD78-45CE-9039-8B9A9C149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73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0A1C8-D75D-69CE-5A76-9EBC2F25B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D8C48-9E42-C8B2-A808-2A6BFBD06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AAA5D-11DE-2AB7-085A-7D88E0315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C6EC-5EC8-45D8-9372-611B81B917B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1682B-F380-BF81-5A41-014F4DCB7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DB53A-E875-7F18-AB68-6F8E6161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8DA5-CD78-45CE-9039-8B9A9C149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76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CD6993-6EF5-17A2-C47E-F347F3292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85AD4-6FB4-169A-88C9-DB2F080FA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093D8-DC48-453B-4C66-EDBD68B648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AC6EC-5EC8-45D8-9372-611B81B917B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1526B-1C2B-B7CF-C77F-89AF39DD1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5A266-3B5C-9CF1-F701-7FD3BF76C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D8DA5-CD78-45CE-9039-8B9A9C149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86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48828-EB82-B299-600F-3A29A382F0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powered autonomous assistive robot with arm support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6AE25-7351-F86D-CDDD-DCD5373D7B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 A final year project presentation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1657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E8E07-F50C-C41E-2DA4-91F8BA51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87B307-D7B6-ED9D-29AB-4716643D0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AI-Powered Autonomous Assistive Robot with Arm Support is designed for real-time object detection, autonomous navigation, and pick-and-place operations using Artificial Intelligence and computer vision. The system uses Raspberry Pi 3 Model B+, OpenCV, TensorFlow Lite, ESP32, and a 4-DOF robotic arm for intelligent robotic control and mobility. It provides a low-cost and efficient solution for assistive robotics, warehouse automation, and smart material handling applications.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8753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17732-FEBE-E21E-B122-FA9C36055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31170-19B5-1B9B-65BA-916612B64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develop an AI-powered robotic system for real-time object detection and classification using computer vision.</a:t>
            </a:r>
          </a:p>
          <a:p>
            <a:r>
              <a:rPr lang="en-US" dirty="0"/>
              <a:t>To integrate a 4-DOF robotic arm for accurate autonomous pick-and-place operations.</a:t>
            </a:r>
          </a:p>
          <a:p>
            <a:r>
              <a:rPr lang="en-US" dirty="0"/>
              <a:t>To enable autonomous navigation using a 4WD smart chassis with obstacle detection.</a:t>
            </a:r>
          </a:p>
          <a:p>
            <a:r>
              <a:rPr lang="en-US" dirty="0"/>
              <a:t>To design a low-cost, energy-efficient, and intelligent assistive robotic platform.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7950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8298-D7DA-110D-735E-BD52AF40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FA643-F40B-6742-75A9-BE8361BB1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Logistics operations depend on manual forklift handling of </a:t>
            </a:r>
            <a:r>
              <a:rPr lang="en-US" dirty="0" err="1"/>
              <a:t>tricon</a:t>
            </a:r>
            <a:r>
              <a:rPr lang="en-US" dirty="0"/>
              <a:t> containers, which causes safety risks, delays, and high labor cost, so design and develop an AI powered autonomous assistive robot with robotic arm to enable safe, efficient, and automated container handling.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3742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62C74-63B9-ADA1-93C3-245E2A615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BA615C-7453-31E5-B409-4E3D45B2CC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01847" y="1563737"/>
            <a:ext cx="4788306" cy="492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51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4037E-78DE-3741-5B49-89683FE53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Diagram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28811B3-6CC9-35F0-C4C0-5093E9722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935" y="1690688"/>
            <a:ext cx="4916129" cy="460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23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10B5-5CEE-70B8-2778-8442264D2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0BEA2-D712-0A60-0ECC-00648667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Raspberry Pi 3 Model B+</a:t>
            </a:r>
          </a:p>
          <a:p>
            <a:r>
              <a:rPr lang="en-IN" dirty="0" err="1"/>
              <a:t>Zebronics</a:t>
            </a:r>
            <a:r>
              <a:rPr lang="en-IN" dirty="0"/>
              <a:t> USB Web Camera</a:t>
            </a:r>
          </a:p>
          <a:p>
            <a:r>
              <a:rPr lang="en-IN" dirty="0"/>
              <a:t>ESP32 WROOM(38 pins)</a:t>
            </a:r>
          </a:p>
          <a:p>
            <a:r>
              <a:rPr lang="en-US" dirty="0"/>
              <a:t>4DOF Robotic Arm(3D-Printed)</a:t>
            </a:r>
          </a:p>
          <a:p>
            <a:r>
              <a:rPr lang="en-IN" dirty="0"/>
              <a:t>MGS90 Servo Motor (4x)</a:t>
            </a:r>
            <a:endParaRPr lang="en-US" dirty="0"/>
          </a:p>
          <a:p>
            <a:r>
              <a:rPr lang="en-US" dirty="0"/>
              <a:t>4WD Car Chassis Kit with BO motors(4x)</a:t>
            </a:r>
          </a:p>
          <a:p>
            <a:r>
              <a:rPr lang="en-IN" dirty="0"/>
              <a:t>L298N Motor Driver</a:t>
            </a:r>
          </a:p>
          <a:p>
            <a:r>
              <a:rPr lang="en-IN" dirty="0"/>
              <a:t>12V Lithium-ion Battery + 3SBMS</a:t>
            </a:r>
          </a:p>
          <a:p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7943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BF494-705B-BC06-0E8F-BC2701365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7833"/>
            <a:ext cx="10515600" cy="4862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Programming Language:</a:t>
            </a:r>
          </a:p>
          <a:p>
            <a:r>
              <a:rPr lang="en-IN" dirty="0"/>
              <a:t>Python</a:t>
            </a:r>
          </a:p>
          <a:p>
            <a:r>
              <a:rPr lang="en-IN" dirty="0"/>
              <a:t>Embedded C</a:t>
            </a:r>
          </a:p>
          <a:p>
            <a:pPr marL="0" indent="0">
              <a:buNone/>
            </a:pPr>
            <a:r>
              <a:rPr lang="en-IN" dirty="0"/>
              <a:t>IDE / Development Tools:</a:t>
            </a:r>
          </a:p>
          <a:p>
            <a:r>
              <a:rPr lang="en-IN" dirty="0"/>
              <a:t>Thonny IDE</a:t>
            </a:r>
          </a:p>
          <a:p>
            <a:r>
              <a:rPr lang="en-IN" dirty="0"/>
              <a:t>Arduino IDE</a:t>
            </a:r>
          </a:p>
          <a:p>
            <a:pPr marL="0" indent="0">
              <a:buNone/>
            </a:pPr>
            <a:r>
              <a:rPr lang="en-IN" dirty="0"/>
              <a:t>Libraries and Frameworks:</a:t>
            </a:r>
          </a:p>
          <a:p>
            <a:r>
              <a:rPr lang="en-IN" dirty="0"/>
              <a:t>OpenCV</a:t>
            </a:r>
          </a:p>
          <a:p>
            <a:r>
              <a:rPr lang="en-IN" dirty="0"/>
              <a:t>TensorFlow Lite</a:t>
            </a:r>
          </a:p>
        </p:txBody>
      </p:sp>
    </p:spTree>
    <p:extLst>
      <p:ext uri="{BB962C8B-B14F-4D97-AF65-F5344CB8AC3E}">
        <p14:creationId xmlns:p14="http://schemas.microsoft.com/office/powerpoint/2010/main" val="3127318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D580-9AE5-53F7-335B-067420085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>
            <a:normAutofit/>
          </a:bodyPr>
          <a:lstStyle/>
          <a:p>
            <a:r>
              <a:rPr lang="en-IN" dirty="0"/>
              <a:t>Kinematics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5D08C-CC77-CE7E-B770-40D39A796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1548"/>
            <a:ext cx="7578213" cy="54113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What is a 4-DOF arm?</a:t>
            </a:r>
          </a:p>
          <a:p>
            <a:pPr marL="0" indent="0">
              <a:buNone/>
            </a:pPr>
            <a:r>
              <a:rPr lang="en-US" sz="2000" dirty="0"/>
              <a:t>Base, Shoulder, Elbow, Wrist</a:t>
            </a:r>
          </a:p>
          <a:p>
            <a:r>
              <a:rPr lang="en-US" sz="2000" dirty="0"/>
              <a:t>A 4-DOF arm has 4 independent joints. Each joint adds one degree of freedom — one axis of rotation. Together they determine where the end-effector (gripper/tool) can reach in 3D space.</a:t>
            </a:r>
          </a:p>
          <a:p>
            <a:endParaRPr lang="en-US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Step 1 — Forward Kinematics (FK)</a:t>
            </a:r>
          </a:p>
          <a:p>
            <a:r>
              <a:rPr lang="en-IN" sz="2000" dirty="0"/>
              <a:t>FK is the easy direction: given known joint angles </a:t>
            </a:r>
            <a:r>
              <a:rPr lang="el-GR" sz="2000" dirty="0"/>
              <a:t>θ₁…θ₄, </a:t>
            </a:r>
            <a:r>
              <a:rPr lang="en-IN" sz="2000" dirty="0"/>
              <a:t>compute the end-effector position. Each joint's transformation is a rotation matrix. Multiplied together, they give the final pose.</a:t>
            </a:r>
          </a:p>
          <a:p>
            <a:r>
              <a:rPr lang="en-IN" sz="2000" dirty="0" err="1"/>
              <a:t>x,y,z</a:t>
            </a:r>
            <a:r>
              <a:rPr lang="en-IN" sz="2000" dirty="0"/>
              <a:t> = FK(</a:t>
            </a:r>
            <a:r>
              <a:rPr lang="el-GR" sz="2000" dirty="0"/>
              <a:t>θ₁, θ₂, θ₃, θ₄)</a:t>
            </a:r>
            <a:br>
              <a:rPr lang="el-GR" sz="2000" dirty="0"/>
            </a:br>
            <a:r>
              <a:rPr lang="en-IN" sz="2000" dirty="0"/>
              <a:t>     T = T₁(</a:t>
            </a:r>
            <a:r>
              <a:rPr lang="el-GR" sz="2000" dirty="0"/>
              <a:t>θ₁) × </a:t>
            </a:r>
            <a:r>
              <a:rPr lang="en-IN" sz="2000" dirty="0"/>
              <a:t>T₂(</a:t>
            </a:r>
            <a:r>
              <a:rPr lang="el-GR" sz="2000" dirty="0"/>
              <a:t>θ₂) × </a:t>
            </a:r>
            <a:r>
              <a:rPr lang="en-IN" sz="2000" dirty="0"/>
              <a:t>T₃(</a:t>
            </a:r>
            <a:r>
              <a:rPr lang="el-GR" sz="2000" dirty="0"/>
              <a:t>θ₃) × </a:t>
            </a:r>
            <a:r>
              <a:rPr lang="en-IN" sz="2000" dirty="0"/>
              <a:t>T₄(</a:t>
            </a:r>
            <a:r>
              <a:rPr lang="el-GR" sz="2000" dirty="0"/>
              <a:t>θ₄)</a:t>
            </a:r>
          </a:p>
          <a:p>
            <a:endParaRPr lang="en-IN" sz="16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10850C6-19E0-A184-18BD-7CBC613511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1" r="64355"/>
          <a:stretch>
            <a:fillRect/>
          </a:stretch>
        </p:blipFill>
        <p:spPr bwMode="auto">
          <a:xfrm>
            <a:off x="8916628" y="207712"/>
            <a:ext cx="3275373" cy="322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999B64E-FBD4-BD33-C318-37018146B8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1" r="63871"/>
          <a:stretch>
            <a:fillRect/>
          </a:stretch>
        </p:blipFill>
        <p:spPr bwMode="auto">
          <a:xfrm>
            <a:off x="8916628" y="3429000"/>
            <a:ext cx="3275372" cy="292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190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8F797-F004-A9D3-B3B4-EDB9C162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7A934-8F19-514E-9105-66FF41591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369" y="575852"/>
            <a:ext cx="7647038" cy="54113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Step 2 — The IK Problem</a:t>
            </a:r>
          </a:p>
          <a:p>
            <a:r>
              <a:rPr lang="en-US" sz="2000" dirty="0"/>
              <a:t>Inverse Kinematics flips the question: given a target position (x, y, z), find the joint angles θ₁…θ₄ that place the end-effector there. This is the hard direction — often multiple solutions or none.</a:t>
            </a:r>
          </a:p>
          <a:p>
            <a:r>
              <a:rPr lang="en-US" sz="2000" dirty="0"/>
              <a:t>θ₁, θ₂, θ₃, θ₄ = IK(</a:t>
            </a:r>
            <a:r>
              <a:rPr lang="en-US" sz="2000" dirty="0" err="1"/>
              <a:t>x_target</a:t>
            </a:r>
            <a:r>
              <a:rPr lang="en-US" sz="2000" dirty="0"/>
              <a:t>, </a:t>
            </a:r>
            <a:r>
              <a:rPr lang="en-US" sz="2000" dirty="0" err="1"/>
              <a:t>y_target</a:t>
            </a:r>
            <a:r>
              <a:rPr lang="en-US" sz="2000" dirty="0"/>
              <a:t>, </a:t>
            </a:r>
            <a:r>
              <a:rPr lang="en-US" sz="2000" dirty="0" err="1"/>
              <a:t>z_target</a:t>
            </a:r>
            <a:r>
              <a:rPr lang="en-US" sz="2000" dirty="0"/>
              <a:t>)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Non-linear, may have 0, 1, or many solutions</a:t>
            </a:r>
          </a:p>
          <a:p>
            <a:endParaRPr lang="en-US" sz="2000" dirty="0"/>
          </a:p>
          <a:p>
            <a:endParaRPr lang="en-IN" sz="2000" dirty="0"/>
          </a:p>
          <a:p>
            <a:pPr marL="0" indent="0">
              <a:buNone/>
            </a:pPr>
            <a:r>
              <a:rPr lang="en-US" sz="2000" dirty="0"/>
              <a:t>Step 3 — Decouple: Base rotation θ₁</a:t>
            </a:r>
          </a:p>
          <a:p>
            <a:r>
              <a:rPr lang="en-US" sz="2000" dirty="0"/>
              <a:t>In a 4-DOF arm the base joint rotates around the vertical (Z) axis. This decouples from the rest — we solve θ₁ first using just the target's X and Y coordinates.</a:t>
            </a:r>
          </a:p>
          <a:p>
            <a:r>
              <a:rPr lang="en-US" sz="2000" dirty="0"/>
              <a:t>θ₁ = atan2(</a:t>
            </a:r>
            <a:r>
              <a:rPr lang="en-US" sz="2000" dirty="0" err="1"/>
              <a:t>y_target</a:t>
            </a:r>
            <a:r>
              <a:rPr lang="en-US" sz="2000" dirty="0"/>
              <a:t>, </a:t>
            </a:r>
            <a:r>
              <a:rPr lang="en-US" sz="2000" dirty="0" err="1"/>
              <a:t>x_target</a:t>
            </a:r>
            <a:r>
              <a:rPr lang="en-US" sz="2000" dirty="0"/>
              <a:t>)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This rotates the whole arm to face the target.</a:t>
            </a:r>
            <a:br>
              <a:rPr lang="en-US" sz="2000" dirty="0"/>
            </a:br>
            <a:endParaRPr lang="en-IN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49E491-2DE2-F5C5-48D8-6CA9750464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3" r="55322"/>
          <a:stretch>
            <a:fillRect/>
          </a:stretch>
        </p:blipFill>
        <p:spPr bwMode="auto">
          <a:xfrm>
            <a:off x="8475407" y="156043"/>
            <a:ext cx="4090219" cy="2871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07B3C25-FD98-D7F9-A947-73E96CB5CE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6" r="64274"/>
          <a:stretch>
            <a:fillRect/>
          </a:stretch>
        </p:blipFill>
        <p:spPr bwMode="auto">
          <a:xfrm>
            <a:off x="8477656" y="3281516"/>
            <a:ext cx="3714344" cy="2871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731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BC521-14F6-86D8-F8B3-F7B14FC45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3CD69-FF8A-605A-92F1-233A07DC5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369" y="228766"/>
            <a:ext cx="7647038" cy="64004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Step 4 — Planar problem: reach in 2D</a:t>
            </a:r>
          </a:p>
          <a:p>
            <a:pPr marL="0" indent="0">
              <a:buNone/>
            </a:pPr>
            <a:r>
              <a:rPr lang="en-US" sz="2000" dirty="0" err="1"/>
              <a:t>θ₂,θ</a:t>
            </a:r>
            <a:r>
              <a:rPr lang="en-US" sz="2000" dirty="0"/>
              <a:t>₃</a:t>
            </a:r>
          </a:p>
          <a:p>
            <a:r>
              <a:rPr lang="en-US" sz="2000" dirty="0"/>
              <a:t>Once the base is rotated, the shoulder + elbow form a 2-link planar chain in a vertical plane. The target becomes a 2D point (r, z) where r is horizontal distance and z is height.</a:t>
            </a:r>
          </a:p>
          <a:p>
            <a:r>
              <a:rPr lang="en-US" sz="2000" dirty="0"/>
              <a:t>r = √(x² + y²) (horizontal reach)</a:t>
            </a:r>
            <a:br>
              <a:rPr lang="en-US" sz="2000" dirty="0"/>
            </a:br>
            <a:r>
              <a:rPr lang="en-US" sz="2000" dirty="0"/>
              <a:t>z = </a:t>
            </a:r>
            <a:r>
              <a:rPr lang="en-US" sz="2000" dirty="0" err="1"/>
              <a:t>z_target</a:t>
            </a:r>
            <a:r>
              <a:rPr lang="en-US" sz="2000" dirty="0"/>
              <a:t> - </a:t>
            </a:r>
            <a:r>
              <a:rPr lang="en-US" sz="2000" dirty="0" err="1"/>
              <a:t>base_height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Now solve a 2-link IK in the (r, z) plane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Step 5 — Law of cosines for </a:t>
            </a:r>
            <a:r>
              <a:rPr lang="el-GR" sz="2000" dirty="0"/>
              <a:t>θ₂ &amp; θ₃</a:t>
            </a:r>
          </a:p>
          <a:p>
            <a:pPr marL="0" indent="0">
              <a:buNone/>
            </a:pPr>
            <a:r>
              <a:rPr lang="en-IN" sz="2000" dirty="0"/>
              <a:t>Geometry</a:t>
            </a:r>
          </a:p>
          <a:p>
            <a:r>
              <a:rPr lang="en-IN" sz="2000" dirty="0"/>
              <a:t>The 2-link chain forms a triangle. The distance D from shoulder to target, and the two link lengths L₂ and L₃, let us solve for the elbow angle </a:t>
            </a:r>
            <a:r>
              <a:rPr lang="el-GR" sz="2000" dirty="0"/>
              <a:t>θ₃ </a:t>
            </a:r>
            <a:r>
              <a:rPr lang="en-IN" sz="2000" dirty="0"/>
              <a:t>directly via the law of cosines.</a:t>
            </a:r>
          </a:p>
          <a:p>
            <a:r>
              <a:rPr lang="en-IN" sz="2000" dirty="0"/>
              <a:t>D² = r² + z²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cos(</a:t>
            </a:r>
            <a:r>
              <a:rPr lang="el-GR" sz="2000" dirty="0"/>
              <a:t>θ₃) = (</a:t>
            </a:r>
            <a:r>
              <a:rPr lang="en-IN" sz="2000" dirty="0"/>
              <a:t>D² - L₂² - L₃²) / (2·L₂·L₃)</a:t>
            </a:r>
            <a:br>
              <a:rPr lang="en-IN" sz="2000" dirty="0"/>
            </a:br>
            <a:r>
              <a:rPr lang="el-GR" sz="2000" dirty="0"/>
              <a:t>θ₃ = </a:t>
            </a:r>
            <a:r>
              <a:rPr lang="en-IN" sz="2000" dirty="0" err="1"/>
              <a:t>acos</a:t>
            </a:r>
            <a:r>
              <a:rPr lang="en-IN" sz="2000" dirty="0"/>
              <a:t>(...) ← elbow angle</a:t>
            </a:r>
            <a:br>
              <a:rPr lang="en-IN" sz="2000" dirty="0"/>
            </a:br>
            <a:r>
              <a:rPr lang="el-GR" sz="2000" dirty="0"/>
              <a:t>θ₂ = </a:t>
            </a:r>
            <a:r>
              <a:rPr lang="en-IN" sz="2000" dirty="0"/>
              <a:t>atan2(z, r) - atan2(L₃·sin(</a:t>
            </a:r>
            <a:r>
              <a:rPr lang="el-GR" sz="2000" dirty="0"/>
              <a:t>θ₃), </a:t>
            </a:r>
            <a:r>
              <a:rPr lang="en-IN" sz="2000" dirty="0"/>
              <a:t>L₂+L₃·cos(</a:t>
            </a:r>
            <a:r>
              <a:rPr lang="el-GR" sz="2000" dirty="0"/>
              <a:t>θ₃))</a:t>
            </a:r>
            <a:br>
              <a:rPr lang="el-GR" sz="2000" dirty="0"/>
            </a:br>
            <a:br>
              <a:rPr lang="en-US" sz="2000" dirty="0"/>
            </a:br>
            <a:endParaRPr lang="en-IN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2D0C16F-01B6-B24C-4526-CA732B07F8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70" r="62823"/>
          <a:stretch>
            <a:fillRect/>
          </a:stretch>
        </p:blipFill>
        <p:spPr bwMode="auto">
          <a:xfrm>
            <a:off x="8587805" y="228767"/>
            <a:ext cx="3604195" cy="320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C493388-45A6-23B1-34B2-DD779DBCD9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0" r="60322"/>
          <a:stretch>
            <a:fillRect/>
          </a:stretch>
        </p:blipFill>
        <p:spPr bwMode="auto">
          <a:xfrm>
            <a:off x="8441533" y="3429000"/>
            <a:ext cx="3750467" cy="292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885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9CD03-9CBE-5D6D-45FC-7616D274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75D13-CCE5-5A3B-3C2D-142364D39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369" y="228766"/>
            <a:ext cx="7647038" cy="64004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Step 6 — Wrist angle </a:t>
            </a:r>
            <a:r>
              <a:rPr lang="el-GR" sz="2000" dirty="0"/>
              <a:t>θ₄</a:t>
            </a:r>
          </a:p>
          <a:p>
            <a:r>
              <a:rPr lang="en-IN" sz="2000" dirty="0"/>
              <a:t>The 4th DOF controls the wrist orientation. If a specific end-effector angle </a:t>
            </a:r>
            <a:r>
              <a:rPr lang="el-GR" sz="2000" dirty="0"/>
              <a:t>φ </a:t>
            </a:r>
            <a:r>
              <a:rPr lang="en-IN" sz="2000" dirty="0"/>
              <a:t>is required, </a:t>
            </a:r>
            <a:r>
              <a:rPr lang="el-GR" sz="2000" dirty="0"/>
              <a:t>θ₄ </a:t>
            </a:r>
            <a:r>
              <a:rPr lang="en-IN" sz="2000" dirty="0"/>
              <a:t>compensates for whatever </a:t>
            </a:r>
            <a:r>
              <a:rPr lang="el-GR" sz="2000" dirty="0"/>
              <a:t>θ₂ </a:t>
            </a:r>
            <a:r>
              <a:rPr lang="en-IN" sz="2000" dirty="0"/>
              <a:t>and </a:t>
            </a:r>
            <a:r>
              <a:rPr lang="el-GR" sz="2000" dirty="0"/>
              <a:t>θ₃ </a:t>
            </a:r>
            <a:r>
              <a:rPr lang="en-IN" sz="2000" dirty="0"/>
              <a:t>contribute. If orientation is free, </a:t>
            </a:r>
            <a:r>
              <a:rPr lang="el-GR" sz="2000" dirty="0"/>
              <a:t>θ₄ </a:t>
            </a:r>
            <a:r>
              <a:rPr lang="en-IN" sz="2000" dirty="0"/>
              <a:t>can optimize for clearance.</a:t>
            </a:r>
          </a:p>
          <a:p>
            <a:r>
              <a:rPr lang="el-GR" sz="2000" dirty="0"/>
              <a:t>θ₄ = φ_</a:t>
            </a:r>
            <a:r>
              <a:rPr lang="en-IN" sz="2000" dirty="0"/>
              <a:t>target - </a:t>
            </a:r>
            <a:r>
              <a:rPr lang="el-GR" sz="2000" dirty="0"/>
              <a:t>θ₂ - θ₃</a:t>
            </a:r>
            <a:br>
              <a:rPr lang="el-GR" sz="2000" dirty="0"/>
            </a:br>
            <a:br>
              <a:rPr lang="el-GR" sz="2000" dirty="0"/>
            </a:br>
            <a:r>
              <a:rPr lang="el-GR" sz="2000" dirty="0"/>
              <a:t>φ_</a:t>
            </a:r>
            <a:r>
              <a:rPr lang="en-IN" sz="2000" dirty="0"/>
              <a:t>target = desired end-effector angle</a:t>
            </a:r>
            <a:br>
              <a:rPr lang="en-IN" sz="2000" dirty="0"/>
            </a:br>
            <a:r>
              <a:rPr lang="en-IN" sz="2000" dirty="0"/>
              <a:t>(0 = horizontal, </a:t>
            </a:r>
            <a:r>
              <a:rPr lang="el-GR" sz="2000" dirty="0"/>
              <a:t>π/2 = </a:t>
            </a:r>
            <a:r>
              <a:rPr lang="en-IN" sz="2000" dirty="0"/>
              <a:t>pointing down)</a:t>
            </a:r>
          </a:p>
          <a:p>
            <a:pPr marL="0" indent="0">
              <a:buNone/>
            </a:pPr>
            <a:br>
              <a:rPr lang="en-IN" sz="2000" dirty="0"/>
            </a:br>
            <a:r>
              <a:rPr lang="en-US" sz="2000" dirty="0"/>
              <a:t>Step 7 — Elbow up / down ambiguity</a:t>
            </a:r>
          </a:p>
          <a:p>
            <a:pPr marL="0" indent="0">
              <a:buNone/>
            </a:pPr>
            <a:r>
              <a:rPr lang="en-US" sz="2000" dirty="0"/>
              <a:t>Multiple solutions</a:t>
            </a:r>
          </a:p>
          <a:p>
            <a:r>
              <a:rPr lang="en-US" sz="2000" dirty="0"/>
              <a:t>The law of cosines gives two solutions for θ₃ (± sign). This is the classic 'elbow-up' vs 'elbow-down' configuration. Both reach the same point. Pick based on obstacle avoidance or joint limits.</a:t>
            </a:r>
          </a:p>
          <a:p>
            <a:r>
              <a:rPr lang="en-US" sz="2000" dirty="0"/>
              <a:t>θ₃ = +</a:t>
            </a:r>
            <a:r>
              <a:rPr lang="en-US" sz="2000" dirty="0" err="1"/>
              <a:t>acos</a:t>
            </a:r>
            <a:r>
              <a:rPr lang="en-US" sz="2000" dirty="0"/>
              <a:t>(...) ← elbow down</a:t>
            </a:r>
            <a:br>
              <a:rPr lang="en-US" sz="2000" dirty="0"/>
            </a:br>
            <a:r>
              <a:rPr lang="en-US" sz="2000" dirty="0"/>
              <a:t>θ₃ = -</a:t>
            </a:r>
            <a:r>
              <a:rPr lang="en-US" sz="2000" dirty="0" err="1"/>
              <a:t>acos</a:t>
            </a:r>
            <a:r>
              <a:rPr lang="en-US" sz="2000" dirty="0"/>
              <a:t>(...) ← elbow up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Both are valid IK solutions!</a:t>
            </a:r>
            <a:br>
              <a:rPr lang="el-GR" sz="2000" dirty="0"/>
            </a:br>
            <a:br>
              <a:rPr lang="en-US" sz="2000" dirty="0"/>
            </a:br>
            <a:endParaRPr lang="en-IN" sz="1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954ECC5-A044-D571-34F4-E8A355EA1A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74" r="61532"/>
          <a:stretch>
            <a:fillRect/>
          </a:stretch>
        </p:blipFill>
        <p:spPr bwMode="auto">
          <a:xfrm>
            <a:off x="8422623" y="228766"/>
            <a:ext cx="3769377" cy="271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4791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6CE65-EAA2-467F-DBD5-944035FEA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— Full IK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FA049-70B3-18CB-3E06-0CA65DE31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The 4 steps together: (1) rotate base to face target, (2) project to 2D plane, (3) use law of cosines for shoulder &amp; elbow, (4) adjust wrist for final orientation. Analytical — fast, exact, no iterations needed.</a:t>
            </a:r>
          </a:p>
          <a:p>
            <a:r>
              <a:rPr lang="el-GR" sz="2000" dirty="0"/>
              <a:t>θ₁ = </a:t>
            </a:r>
            <a:r>
              <a:rPr lang="en-IN" sz="2000" dirty="0"/>
              <a:t>atan2(y, x)</a:t>
            </a:r>
            <a:br>
              <a:rPr lang="en-IN" sz="2000" dirty="0"/>
            </a:br>
            <a:r>
              <a:rPr lang="en-IN" sz="2000" dirty="0"/>
              <a:t>r = √(x²+y²), z = z-h</a:t>
            </a:r>
            <a:br>
              <a:rPr lang="en-IN" sz="2000" dirty="0"/>
            </a:br>
            <a:r>
              <a:rPr lang="el-GR" sz="2000" dirty="0"/>
              <a:t>θ₃ = ±</a:t>
            </a:r>
            <a:r>
              <a:rPr lang="en-IN" sz="2000" dirty="0" err="1"/>
              <a:t>acos</a:t>
            </a:r>
            <a:r>
              <a:rPr lang="en-IN" sz="2000" dirty="0"/>
              <a:t>((r²+z²-L₂²-L₃²)/(2L₂L₃))</a:t>
            </a:r>
            <a:br>
              <a:rPr lang="en-IN" sz="2000" dirty="0"/>
            </a:br>
            <a:r>
              <a:rPr lang="el-GR" sz="2000" dirty="0"/>
              <a:t>θ₂ = </a:t>
            </a:r>
            <a:r>
              <a:rPr lang="en-IN" sz="2000" dirty="0"/>
              <a:t>atan2(</a:t>
            </a:r>
            <a:r>
              <a:rPr lang="en-IN" sz="2000" dirty="0" err="1"/>
              <a:t>z,r</a:t>
            </a:r>
            <a:r>
              <a:rPr lang="en-IN" sz="2000" dirty="0"/>
              <a:t>) - atan2(L₃·sin </a:t>
            </a:r>
            <a:r>
              <a:rPr lang="el-GR" sz="2000" dirty="0"/>
              <a:t>θ₃, </a:t>
            </a:r>
            <a:r>
              <a:rPr lang="en-IN" sz="2000" dirty="0"/>
              <a:t>L₂+L₃·cos </a:t>
            </a:r>
            <a:r>
              <a:rPr lang="el-GR" sz="2000" dirty="0"/>
              <a:t>θ₃)</a:t>
            </a:r>
            <a:br>
              <a:rPr lang="el-GR" sz="2000" dirty="0"/>
            </a:br>
            <a:r>
              <a:rPr lang="el-GR" sz="2000" dirty="0"/>
              <a:t>θ₄ = φ - θ₂ - θ₃</a:t>
            </a:r>
          </a:p>
          <a:p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B364938-E5CC-0C9C-B480-738A7C4F81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22" r="57581"/>
          <a:stretch>
            <a:fillRect/>
          </a:stretch>
        </p:blipFill>
        <p:spPr bwMode="auto">
          <a:xfrm>
            <a:off x="6096000" y="2407674"/>
            <a:ext cx="5933591" cy="376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4627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B100-5A24-615D-B1C7-353231E32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530AD-28AA-B5A7-F10D-6D077A494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 rotation : 0 to 180</a:t>
            </a:r>
          </a:p>
          <a:p>
            <a:r>
              <a:rPr lang="en-US" dirty="0"/>
              <a:t>Shoulder or lower arm : 0 to 80</a:t>
            </a:r>
          </a:p>
          <a:p>
            <a:r>
              <a:rPr lang="en-US" dirty="0"/>
              <a:t>Elbow or upper arm : 10 to 100</a:t>
            </a:r>
          </a:p>
          <a:p>
            <a:r>
              <a:rPr lang="en-US" dirty="0"/>
              <a:t>Gripper : 40 to 170</a:t>
            </a:r>
          </a:p>
        </p:txBody>
      </p:sp>
    </p:spTree>
    <p:extLst>
      <p:ext uri="{BB962C8B-B14F-4D97-AF65-F5344CB8AC3E}">
        <p14:creationId xmlns:p14="http://schemas.microsoft.com/office/powerpoint/2010/main" val="1802544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472B-4AA6-E535-2ECF-F5FC29304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B16B3-BE80-CB8D-0B3B-3074628F7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Prototype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676319-1F66-9332-1D85-26EED880C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39" t="4457" r="17607" b="9315"/>
          <a:stretch>
            <a:fillRect/>
          </a:stretch>
        </p:blipFill>
        <p:spPr>
          <a:xfrm>
            <a:off x="2226841" y="1785915"/>
            <a:ext cx="3318553" cy="3774555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C45624-E921-41AC-54FC-0F96551C6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17" r="17597"/>
          <a:stretch>
            <a:fillRect/>
          </a:stretch>
        </p:blipFill>
        <p:spPr>
          <a:xfrm>
            <a:off x="6646608" y="1785915"/>
            <a:ext cx="3184822" cy="377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00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B7B80-DF8C-2539-91E5-F86EFC009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CD8BC-23B4-14E7-DE76-22BAE1AC2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latin typeface="Calibri Light (Headings)"/>
                <a:cs typeface="Times New Roman" panose="02020603050405020304" pitchFamily="18" charset="0"/>
              </a:rPr>
              <a:t>Working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DECE12-7113-BC37-765B-ADA71EA06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8" r="10155"/>
          <a:stretch>
            <a:fillRect/>
          </a:stretch>
        </p:blipFill>
        <p:spPr>
          <a:xfrm>
            <a:off x="481095" y="1690577"/>
            <a:ext cx="3847651" cy="39759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251260-6655-7CA4-098A-B78077E1E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8" r="15271"/>
          <a:stretch>
            <a:fillRect/>
          </a:stretch>
        </p:blipFill>
        <p:spPr>
          <a:xfrm>
            <a:off x="4685851" y="1690577"/>
            <a:ext cx="3593805" cy="39759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C97EFD-9D3E-1073-A35F-C2B824F36C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54" r="20387"/>
          <a:stretch>
            <a:fillRect/>
          </a:stretch>
        </p:blipFill>
        <p:spPr>
          <a:xfrm>
            <a:off x="8546179" y="1690577"/>
            <a:ext cx="3164726" cy="400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702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342EC-DF1E-3A17-60BA-C9860FAEE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6110"/>
            <a:ext cx="10515600" cy="13094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51045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1137</Words>
  <Application>Microsoft Office PowerPoint</Application>
  <PresentationFormat>Widescreen</PresentationFormat>
  <Paragraphs>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Calibri Light (Headings)</vt:lpstr>
      <vt:lpstr>Times New Roman</vt:lpstr>
      <vt:lpstr>Office Theme</vt:lpstr>
      <vt:lpstr>Ai powered autonomous assistive robot with arm support</vt:lpstr>
      <vt:lpstr>Abstract</vt:lpstr>
      <vt:lpstr>Objective</vt:lpstr>
      <vt:lpstr>Problem Statement</vt:lpstr>
      <vt:lpstr>Block Diagram</vt:lpstr>
      <vt:lpstr>Circuit Diagram</vt:lpstr>
      <vt:lpstr>Components used</vt:lpstr>
      <vt:lpstr>PowerPoint Presentation</vt:lpstr>
      <vt:lpstr>Kinematics concepts</vt:lpstr>
      <vt:lpstr>PowerPoint Presentation</vt:lpstr>
      <vt:lpstr>PowerPoint Presentation</vt:lpstr>
      <vt:lpstr>PowerPoint Presentation</vt:lpstr>
      <vt:lpstr>Summary — Full IK pipeline</vt:lpstr>
      <vt:lpstr>Limitations</vt:lpstr>
      <vt:lpstr>Prototype</vt:lpstr>
      <vt:lpstr>Working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Yuvan Sankar Raja</dc:creator>
  <cp:lastModifiedBy>Yuvan Sankar Raja</cp:lastModifiedBy>
  <cp:revision>9</cp:revision>
  <dcterms:created xsi:type="dcterms:W3CDTF">2026-05-06T15:31:17Z</dcterms:created>
  <dcterms:modified xsi:type="dcterms:W3CDTF">2026-05-06T18:37:41Z</dcterms:modified>
</cp:coreProperties>
</file>